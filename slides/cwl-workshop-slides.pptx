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3E0"/>
                </a:solidFill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8ECF4"/>
                </a:solidFill>
              </a:defRPr>
            </a:pPr>
            <a:r>
              <a:t>Common Workflow Language</a:t>
            </a:r>
          </a:p>
          <a:p>
            <a:pPr algn="ctr">
              <a:defRPr sz="4400" b="1">
                <a:solidFill>
                  <a:srgbClr val="E8ECF4"/>
                </a:solidFill>
              </a:defRPr>
            </a:pPr>
            <a:r>
              <a:t>for SKA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A8599"/>
                </a:solidFill>
              </a:defRPr>
            </a:pPr>
            <a:r>
              <a:t>Building Reproducible, Portable Pipelines for Radio Astronomy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A8599"/>
                </a:solidFill>
              </a:defRPr>
            </a:pPr>
            <a:r>
              <a:t>Duration</a:t>
            </a:r>
          </a:p>
          <a:p>
            <a:pPr algn="ctr">
              <a:defRPr sz="1600">
                <a:solidFill>
                  <a:srgbClr val="E8ECF4"/>
                </a:solidFill>
              </a:defRPr>
            </a:pPr>
            <a:r>
              <a:t>3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A8599"/>
                </a:solidFill>
              </a:defRPr>
            </a:pPr>
            <a:r>
              <a:t>Format</a:t>
            </a:r>
          </a:p>
          <a:p>
            <a:pPr algn="ctr">
              <a:defRPr sz="1600">
                <a:solidFill>
                  <a:srgbClr val="E8ECF4"/>
                </a:solidFill>
              </a:defRPr>
            </a:pPr>
            <a:r>
              <a:t>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A8599"/>
                </a:solidFill>
              </a:defRPr>
            </a:pPr>
            <a:r>
              <a:t>Level</a:t>
            </a:r>
          </a:p>
          <a:p>
            <a:pPr algn="ctr">
              <a:defRPr sz="1600">
                <a:solidFill>
                  <a:srgbClr val="E8ECF4"/>
                </a:solidFill>
              </a:defRPr>
            </a:pPr>
            <a:r>
              <a:t>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What is CWL?</a:t>
            </a:r>
          </a:p>
          <a:p>
            <a:pPr>
              <a:defRPr sz="1400">
                <a:solidFill>
                  <a:srgbClr val="7A8599"/>
                </a:solidFill>
              </a:defRPr>
            </a:pPr>
            <a:r>
              <a:t>Common Workflow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572000" cy="91440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3E0"/>
                </a:solidFill>
              </a:defRPr>
            </a:pPr>
            <a:r>
              <a:t>Open Standard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A specification for describing analysis workflows and tools in a portable, scalable manner.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39"/>
            <a:ext cx="4572000" cy="91440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3E0"/>
                </a:solidFill>
              </a:defRPr>
            </a:pPr>
            <a:r>
              <a:t>YAML-Based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Human-readable syntax that's easy to write, version control, and share.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4572000" cy="91440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11879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3E0"/>
                </a:solidFill>
              </a:defRPr>
            </a:pPr>
            <a:r>
              <a:t>Container Native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First-class Docker/Singularity support for reproducible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45920"/>
            <a:ext cx="3200400" cy="228600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01168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↻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Write Once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Run Anywhere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Why CWL for SKA?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3474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" cy="3474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7373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710 PB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Data per year at full operations</a:t>
            </a:r>
          </a:p>
          <a:p/>
          <a:p>
            <a:pPr>
              <a:defRPr sz="1000">
                <a:solidFill>
                  <a:srgbClr val="E8ECF4"/>
                </a:solidFill>
              </a:defRPr>
            </a:pPr>
            <a:r>
              <a:t>Distributed processing across SRCNet requires portable, reproducible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188720"/>
            <a:ext cx="2011680" cy="3474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51760" y="1188720"/>
            <a:ext cx="36576" cy="3474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371600"/>
            <a:ext cx="17373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Global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Collaboration across continents</a:t>
            </a:r>
          </a:p>
          <a:p/>
          <a:p>
            <a:pPr>
              <a:defRPr sz="1000">
                <a:solidFill>
                  <a:srgbClr val="E8ECF4"/>
                </a:solidFill>
              </a:defRPr>
            </a:pPr>
            <a:r>
              <a:t>Standard format enables sharing pipelines between institutions worldwide.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2011680" cy="3474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188720"/>
            <a:ext cx="36576" cy="3474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371600"/>
            <a:ext cx="17373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50+ yr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Science archive lifetime</a:t>
            </a:r>
          </a:p>
          <a:p/>
          <a:p>
            <a:pPr>
              <a:defRPr sz="1000">
                <a:solidFill>
                  <a:srgbClr val="E8ECF4"/>
                </a:solidFill>
              </a:defRPr>
            </a:pPr>
            <a:r>
              <a:t>Reproducibility crucial for long-term scientific integrity and reprocessing.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1188720"/>
            <a:ext cx="2011680" cy="3474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79" y="1188720"/>
            <a:ext cx="36576" cy="3474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371600"/>
            <a:ext cx="17373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HPC</a:t>
            </a:r>
          </a:p>
          <a:p>
            <a:pPr>
              <a:defRPr sz="1100">
                <a:solidFill>
                  <a:srgbClr val="7A8599"/>
                </a:solidFill>
              </a:defRPr>
            </a:pPr>
            <a:r>
              <a:t>Multi-platform execution</a:t>
            </a:r>
          </a:p>
          <a:p/>
          <a:p>
            <a:pPr>
              <a:defRPr sz="1000">
                <a:solidFill>
                  <a:srgbClr val="E8ECF4"/>
                </a:solidFill>
              </a:defRPr>
            </a:pPr>
            <a:r>
              <a:t>Same workflow runs on laptop, HPC cluster, and cloud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Today's Journey</a:t>
            </a:r>
          </a:p>
          <a:p>
            <a:pPr>
              <a:defRPr sz="1400">
                <a:solidFill>
                  <a:srgbClr val="7A8599"/>
                </a:solidFill>
              </a:defRPr>
            </a:pPr>
            <a:r>
              <a:t>3-hour hands-on workshop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" cy="4754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</a:defRPr>
            </a:pPr>
            <a: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7043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Introduction &amp; Setup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Verify environments, overview of CWL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3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27631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27631"/>
            <a:ext cx="36576" cy="4754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</a:defRPr>
            </a:pPr>
            <a:r>
              <a:t>0:15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00784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CWL Fundamentals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YAML syntax, CommandLineTool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64791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30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57984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57984"/>
            <a:ext cx="36576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4942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0:45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31136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Exercises 1 &amp; 2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Hello CWL, FITS Header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29514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30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88335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79775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A8599"/>
                </a:solidFill>
              </a:defRPr>
            </a:pPr>
            <a:r>
              <a:t>1:15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61487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A8599"/>
                </a:solidFill>
              </a:defRPr>
            </a:pPr>
            <a:r>
              <a:t>☕ Break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25495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15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18687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18687"/>
            <a:ext cx="36576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10127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9183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Workflows &amp; Exercise 3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Multi-step pipelines, Imaging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55847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45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49039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49039"/>
            <a:ext cx="36576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40479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2:15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22191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SKA Use Case &amp; Exercise 4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Full calibration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86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30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79392"/>
            <a:ext cx="8229600" cy="475488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279392"/>
            <a:ext cx="36576" cy="4754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70831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</a:defRPr>
            </a:pPr>
            <a:r>
              <a:t>2:45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352544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4"/>
                </a:solidFill>
              </a:defRPr>
            </a:pPr>
            <a:r>
              <a:t>Wrap-up &amp; Next Steps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Resources, community,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4165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599"/>
                </a:solidFill>
              </a:defRPr>
            </a:pPr>
            <a:r>
              <a:t>15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CWL Core Concepts</a:t>
            </a:r>
          </a:p>
          <a:p>
            <a:pPr>
              <a:defRPr sz="1400">
                <a:solidFill>
                  <a:srgbClr val="7A8599"/>
                </a:solidFill>
              </a:defRPr>
            </a:pPr>
            <a:r>
              <a:t>Two building blocks for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0" cy="64008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CommandLineTool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Wraps a single command-line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41148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Workflow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Connects multiple tools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4114800" cy="292608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74903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EXAMPLE</a:t>
            </a:r>
          </a:p>
          <a:p>
            <a:pPr>
              <a:defRPr sz="900">
                <a:solidFill>
                  <a:srgbClr val="E8ECF4"/>
                </a:solidFill>
                <a:latin typeface="Courier New"/>
              </a:defRPr>
            </a:pPr>
            <a:r>
              <a:t>cwlVersion: v1.2</a:t>
            </a:r>
            <a:br/>
            <a:r>
              <a:t>class: CommandLineTool</a:t>
            </a:r>
            <a:br/>
            <a:br/>
            <a:r>
              <a:t>baseCommand: echo</a:t>
            </a:r>
            <a:br/>
            <a:br/>
            <a:r>
              <a:t>inputs:</a:t>
            </a:r>
            <a:br/>
            <a:r>
              <a:t>  message:</a:t>
            </a:r>
            <a:br/>
            <a:r>
              <a:t>    type: string</a:t>
            </a:r>
            <a:br/>
            <a:r>
              <a:t>    inputBinding:</a:t>
            </a:r>
            <a:br/>
            <a:r>
              <a:t>      position: 1</a:t>
            </a:r>
            <a:br/>
            <a:br/>
            <a:r>
              <a:t>outputs:</a:t>
            </a:r>
            <a:br/>
            <a:r>
              <a:t>  output:</a:t>
            </a:r>
            <a:br/>
            <a:r>
              <a:t>    type: stdout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20240"/>
            <a:ext cx="4114800" cy="292608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374903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35"/>
                </a:solidFill>
              </a:defRPr>
            </a:pPr>
            <a:r>
              <a:t>EXAMPLE</a:t>
            </a:r>
          </a:p>
          <a:p>
            <a:pPr>
              <a:defRPr sz="900">
                <a:solidFill>
                  <a:srgbClr val="E8ECF4"/>
                </a:solidFill>
                <a:latin typeface="Courier New"/>
              </a:defRPr>
            </a:pPr>
            <a:r>
              <a:t>cwlVersion: v1.2</a:t>
            </a:r>
            <a:br/>
            <a:r>
              <a:t>class: Workflow</a:t>
            </a:r>
            <a:br/>
            <a:br/>
            <a:r>
              <a:t>inputs:</a:t>
            </a:r>
            <a:br/>
            <a:r>
              <a:t>  input_file: File</a:t>
            </a:r>
            <a:br/>
            <a:br/>
            <a:r>
              <a:t>steps:</a:t>
            </a:r>
            <a:br/>
            <a:r>
              <a:t>  step1:</a:t>
            </a:r>
            <a:br/>
            <a:r>
              <a:t>    run: tool1.cwl</a:t>
            </a:r>
            <a:br/>
            <a:r>
              <a:t>    in:</a:t>
            </a:r>
            <a:br/>
            <a:r>
              <a:t>      file: input_file</a:t>
            </a:r>
            <a:br/>
            <a:r>
              <a:t>    out: [result]</a:t>
            </a:r>
            <a:br/>
            <a:br/>
            <a:r>
              <a:t>outputs:</a:t>
            </a:r>
            <a:br/>
            <a:r>
              <a:t>  final:</a:t>
            </a:r>
            <a:br/>
            <a:r>
              <a:t>    outputSource: step1/result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Hands-on Exercises</a:t>
            </a:r>
          </a:p>
          <a:p>
            <a:pPr>
              <a:defRPr sz="1400">
                <a:solidFill>
                  <a:srgbClr val="7A8599"/>
                </a:solidFill>
              </a:defRPr>
            </a:pPr>
            <a:r>
              <a:t>Progressive complexity, real astronomy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347472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CF4"/>
                </a:solidFill>
              </a:defRPr>
            </a:pPr>
            <a:r>
              <a:t>Hello CWL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737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599"/>
                </a:solidFill>
              </a:defRPr>
            </a:pPr>
            <a:r>
              <a:t>Your first CommandLineTool. Learn YAML syntax and basic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97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A3E0"/>
                </a:solidFill>
              </a:defRPr>
            </a:pPr>
            <a:r>
              <a:t>exercises/01-hello-cwl/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188720"/>
            <a:ext cx="2011680" cy="347472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01168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1371600"/>
            <a:ext cx="320040" cy="32004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3990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CF4"/>
                </a:solidFill>
              </a:defRPr>
            </a:pPr>
            <a:r>
              <a:t>FITS Header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828800"/>
            <a:ext cx="1737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599"/>
                </a:solidFill>
              </a:defRPr>
            </a:pPr>
            <a:r>
              <a:t>Docker containers and File I/O. Extract metadata from FITS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297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A3E0"/>
                </a:solidFill>
              </a:defRPr>
            </a:pPr>
            <a:r>
              <a:t>exercises/02-fits-header/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188720"/>
            <a:ext cx="2011680" cy="347472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188720"/>
            <a:ext cx="20116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3480" y="137160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3990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CF4"/>
                </a:solidFill>
              </a:defRPr>
            </a:pPr>
            <a:r>
              <a:t>Imaging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828800"/>
            <a:ext cx="1737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599"/>
                </a:solidFill>
              </a:defRPr>
            </a:pPr>
            <a:r>
              <a:t>Multi-step workflows. Chain tools to create an analysis pipeline.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97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6B35"/>
                </a:solidFill>
              </a:defRPr>
            </a:pPr>
            <a:r>
              <a:t>exercises/03-imaging-pipeline/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79" y="1188720"/>
            <a:ext cx="2011680" cy="347472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79" y="1188720"/>
            <a:ext cx="20116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78040" y="137160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3990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1371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ECF4"/>
                </a:solidFill>
              </a:defRPr>
            </a:pPr>
            <a:r>
              <a:t>SKA 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828800"/>
            <a:ext cx="1737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599"/>
                </a:solidFill>
              </a:defRPr>
            </a:pPr>
            <a:r>
              <a:t>Real-world pipeline. Flagging, calibration, imaging, and QA.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297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6B35"/>
                </a:solidFill>
              </a:defRPr>
            </a:pPr>
            <a:r>
              <a:t>exercises/04-ska-calibration/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</a:defRPr>
            </a:pPr>
            <a:r>
              <a:t>Resources &amp; Next Steps</a:t>
            </a:r>
          </a:p>
          <a:p>
            <a:pPr>
              <a:defRPr sz="1400">
                <a:solidFill>
                  <a:srgbClr val="7A8599"/>
                </a:solidFill>
              </a:defRPr>
            </a:pPr>
            <a:r>
              <a:t>Your journey continues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3E0"/>
                </a:solidFill>
              </a:defRPr>
            </a:pPr>
            <a:r>
              <a:t>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CWL Specification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commonwl.org/specification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CWL User Guide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commonwl.org/user_guide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SKA Developer Portal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developer.skao.int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3E0"/>
                </a:solidFill>
              </a:defRPr>
            </a:pPr>
            <a:r>
              <a:t>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CWL Discourse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cwl.discourse.group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46888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606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Slack: #cwl-help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Office hours: Wed 14:00 UTC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7472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6118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SKA CWL Working Group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Monthly meetings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ACTION ITEMS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2743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002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① Complete survey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Help us improve!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6888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468880"/>
            <a:ext cx="2743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06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② Join office hours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Next week, get 1:1 help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74720"/>
            <a:ext cx="2743200" cy="822960"/>
          </a:xfrm>
          <a:prstGeom prst="round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2743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118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8ECF4"/>
                </a:solidFill>
              </a:defRPr>
            </a:pPr>
            <a:r>
              <a:t>③ Build your pipeline</a:t>
            </a:r>
          </a:p>
          <a:p>
            <a:pPr>
              <a:defRPr sz="1000">
                <a:solidFill>
                  <a:srgbClr val="7A8599"/>
                </a:solidFill>
              </a:defRPr>
            </a:pPr>
            <a:r>
              <a:t>Start with your own data!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